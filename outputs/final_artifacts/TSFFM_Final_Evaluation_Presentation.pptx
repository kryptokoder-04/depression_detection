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000" b="1">
                <a:solidFill>
                  <a:srgbClr val="B87333"/>
                </a:solidFill>
                <a:latin typeface="Aptos"/>
              </a:rPr>
              <a:t>FINAL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8961120" cy="12344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Depression Detection using Two-Stream Feature Fusion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13816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600" b="0">
                <a:solidFill>
                  <a:srgbClr val="DCE6EE"/>
                </a:solidFill>
                <a:latin typeface="Aptos"/>
              </a:rPr>
              <a:t>TSFFM-BiLSTM with MediaPipe visual features, FastAPI inference, React dashboard, and PDF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68580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Jitendra Choudhary (22BEC059) and Kabir Singh Khair (22BEC061)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768096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100" b="0">
                <a:solidFill>
                  <a:srgbClr val="D2DCE6"/>
                </a:solidFill>
                <a:latin typeface="Aptos"/>
              </a:rPr>
              <a:t>Supervisor: Dr. Amit Vishwakarma | Electronics and Communication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343400"/>
            <a:ext cx="2423160" cy="114300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Prototype status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End-to-end system implemented and evaluated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Why depression screening needs scalable assistance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926080" cy="118872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332M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people worldwide estimated to have depression by WHO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508760"/>
            <a:ext cx="2926080" cy="11887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Access gap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Many cases remain untreated because care is limited or delayed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508760"/>
            <a:ext cx="3566160" cy="11887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Behavior signal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Interview video contains facial affect, posture, and movement 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9966960" cy="146304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F2543"/>
                </a:solidFill>
                <a:latin typeface="Aptos"/>
              </a:defRPr>
            </a:pPr>
            <a:r>
              <a:t>Clinical interviews remain essential.</a:t>
            </a:r>
          </a:p>
          <a:p>
            <a:pPr>
              <a:spcAft>
                <a:spcPts val="600"/>
              </a:spcAft>
              <a:defRPr sz="1700">
                <a:solidFill>
                  <a:srgbClr val="0F2543"/>
                </a:solidFill>
                <a:latin typeface="Aptos"/>
              </a:defRPr>
            </a:pPr>
            <a:r>
              <a:t>AI can support early screening by surfacing objective visual cues.</a:t>
            </a:r>
          </a:p>
          <a:p>
            <a:pPr>
              <a:spcAft>
                <a:spcPts val="600"/>
              </a:spcAft>
              <a:defRPr sz="1700">
                <a:solidFill>
                  <a:srgbClr val="0F2543"/>
                </a:solidFill>
                <a:latin typeface="Aptos"/>
              </a:defRPr>
            </a:pPr>
            <a:r>
              <a:t>The safe role is assistive triage, not autonomous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Mid-sem idea evolved into a full final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926080" cy="32918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Mid-sem state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Conceptual TSFFM deck
Frame-level two-stream idea
Single demo probability
CPU-bound early training
Future work: LSTM and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926080" cy="329184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Final model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Landmark-based streams
360-frame sequences
Temporal Conv1D
BiLSTM + attention
Trained weights and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54480"/>
            <a:ext cx="2926080" cy="3291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Final system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FastAPI backend
React/Vite dashboard
PDF report generation
Validation plots
End-to-end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Final inference pipeline is complete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ste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2767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434840"/>
            <a:ext cx="10424160" cy="100584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2543"/>
                </a:solidFill>
                <a:latin typeface="Aptos"/>
              </a:defRPr>
            </a:pPr>
            <a:r>
              <a:t>Samples video at 5 FPS and standardizes to 360 frames.</a:t>
            </a:r>
          </a:p>
          <a:p>
            <a:pPr>
              <a:spcAft>
                <a:spcPts val="600"/>
              </a:spcAft>
              <a:defRPr sz="1500">
                <a:solidFill>
                  <a:srgbClr val="0F2543"/>
                </a:solidFill>
                <a:latin typeface="Aptos"/>
              </a:defRPr>
            </a:pPr>
            <a:r>
              <a:t>Extracts 68 facial landmarks and shoulder pose cues.</a:t>
            </a:r>
          </a:p>
          <a:p>
            <a:pPr>
              <a:spcAft>
                <a:spcPts val="600"/>
              </a:spcAft>
              <a:defRPr sz="1500">
                <a:solidFill>
                  <a:srgbClr val="0F2543"/>
                </a:solidFill>
                <a:latin typeface="Aptos"/>
              </a:defRPr>
            </a:pPr>
            <a:r>
              <a:t>Returns prediction, confidence, detection quality, and PDF report URL.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Dataset design uses segmented clinical interview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926080" cy="14630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Input format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Participant directories with face-keypoint, pose, and binary-label NumPy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554480"/>
            <a:ext cx="2926080" cy="14630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Validation set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352 segments
211 not depressed
141 depressed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54480"/>
            <a:ext cx="3566160" cy="14630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Label target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0 = not depressed
1 = depressed
Binary PHQ-style screening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058400" cy="118872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Training uses class weights, focal loss, and balanced sampling.</a:t>
            </a:r>
          </a:p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Temporal jittering and Gaussian landmark noise help regularization.</a:t>
            </a:r>
          </a:p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Participant-level diversity remains the major data challenge.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Preprocessing converts video into normalized temporal landmarks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148840" cy="73152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Face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68 landmarks x 4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0" y="1600200"/>
            <a:ext cx="2834640" cy="7315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Model input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272-D per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2148840" cy="73152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Pose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2 shoulder points x 4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2743200"/>
            <a:ext cx="2834640" cy="7315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Model input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8-D per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2148840" cy="73152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Sequence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Pad/truncate to 360 frames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3886200"/>
            <a:ext cx="2834640" cy="7315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Model input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Fixed model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91640"/>
            <a:ext cx="4206240" cy="22860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2543"/>
                </a:solidFill>
                <a:latin typeface="Aptos"/>
              </a:defRPr>
            </a:pPr>
            <a:r>
              <a:t>Each frame is centered and scale-normalized.</a:t>
            </a:r>
          </a:p>
          <a:p>
            <a:pPr>
              <a:spcAft>
                <a:spcPts val="600"/>
              </a:spcAft>
              <a:defRPr sz="1500">
                <a:solidFill>
                  <a:srgbClr val="0F2543"/>
                </a:solidFill>
                <a:latin typeface="Aptos"/>
              </a:defRPr>
            </a:pPr>
            <a:r>
              <a:t>Missing detections reuse last available features where possible.</a:t>
            </a:r>
          </a:p>
          <a:p>
            <a:pPr>
              <a:spcAft>
                <a:spcPts val="600"/>
              </a:spcAft>
              <a:defRPr sz="1500">
                <a:solidFill>
                  <a:srgbClr val="0F2543"/>
                </a:solidFill>
                <a:latin typeface="Aptos"/>
              </a:defRPr>
            </a:pPr>
            <a:r>
              <a:t>Detection rates are returned to the frontend for quality visibility.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Final architecture adds temporal learning and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3877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800600"/>
            <a:ext cx="10424160" cy="64008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Face stream: 272 -&gt; 128</a:t>
            </a:r>
          </a:p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Body stream: 8 -&gt; 32</a:t>
            </a:r>
          </a:p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Fusion: 160-D sequence</a:t>
            </a:r>
          </a:p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Temporal Conv1D + BiLSTM + attention -&gt; 2 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Training was designed for imbalance and small-data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246120" cy="100584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Focal loss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Down-weights easy examples and focuses on harder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554480"/>
            <a:ext cx="3246120" cy="1005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Class weights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Compensates for depressed / not-depressed imbalance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246120" cy="100584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Balanced sampler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Improves exposure to minority-class segments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39"/>
            <a:ext cx="3246120" cy="1005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Regularization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Dropout, weight decay, gradient clipping, LR scheduling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063239"/>
            <a:ext cx="3246120" cy="100584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Checkpointing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Best validation metric saved for final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Final evaluation uses both performance and error-shape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194560" cy="11887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Accuracy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Overall correctness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554480"/>
            <a:ext cx="2194560" cy="11887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Precision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Reliability of positive screenings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554480"/>
            <a:ext cx="2194560" cy="11887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Recall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How many depressed cases are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54480"/>
            <a:ext cx="2194560" cy="11887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AUC-ROC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Probability ranking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241280" cy="128016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For screening, recall is critical because false negatives are high-risk.</a:t>
            </a:r>
          </a:p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For practical use, recall must be balanced against false-positive burden.</a:t>
            </a:r>
          </a:p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The current prototype is evaluated as research software, not a clinical device.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Selected checkpoint is useful, but sensitivity needs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675120" cy="29114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463040"/>
            <a:ext cx="2926080" cy="100584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Accuracy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57.67%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697480"/>
            <a:ext cx="2926080" cy="1005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F1-score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0.4461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2926080" cy="10058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AUC-ROC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0.6597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Confusion matrix shows the screening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297680" cy="3581400"/>
          </a:xfrm>
          <a:prstGeom prst="rect">
            <a:avLst/>
          </a:prstGeom>
        </p:spPr>
      </p:pic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17320"/>
            <a:ext cx="4297680" cy="3581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257800"/>
            <a:ext cx="9875520" cy="6858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F2543"/>
                </a:solidFill>
                <a:latin typeface="Aptos"/>
              </a:defRPr>
            </a:pPr>
            <a:r>
              <a:t>Selected model: better accuracy and AUC.</a:t>
            </a:r>
          </a:p>
          <a:p>
            <a:pPr>
              <a:spcAft>
                <a:spcPts val="600"/>
              </a:spcAft>
              <a:defRPr sz="1350">
                <a:solidFill>
                  <a:srgbClr val="0F2543"/>
                </a:solidFill>
                <a:latin typeface="Aptos"/>
              </a:defRPr>
            </a:pPr>
            <a:r>
              <a:t>Recall-oriented candidate: stronger depression recall but lower AUC.</a:t>
            </a:r>
          </a:p>
          <a:p>
            <a:pPr>
              <a:spcAft>
                <a:spcPts val="600"/>
              </a:spcAft>
              <a:defRPr sz="1350">
                <a:solidFill>
                  <a:srgbClr val="0F2543"/>
                </a:solidFill>
                <a:latin typeface="Aptos"/>
              </a:defRPr>
            </a:pPr>
            <a:r>
              <a:t>Final threshold should be calibrated with clinical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Training curves reveal overfitting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uracy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00600" cy="3200400"/>
          </a:xfrm>
          <a:prstGeom prst="rect">
            <a:avLst/>
          </a:prstGeom>
        </p:spPr>
      </p:pic>
      <p:pic>
        <p:nvPicPr>
          <p:cNvPr id="6" name="Picture 5" descr="loss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7320"/>
            <a:ext cx="48006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166360"/>
            <a:ext cx="9784080" cy="59436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Interpretation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Training improves faster than validation, so future work should prioritize data diversity, regularization, and participant-level split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The final project is productized as a usable web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plementat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607040" cy="4178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892040"/>
            <a:ext cx="10332720" cy="86868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Frontend: upload, metadata, progress, result card, probability chart.</a:t>
            </a:r>
          </a:p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Backend: validation, extraction, model singleton, PDF generation, cleanup.</a:t>
            </a:r>
          </a:p>
          <a:p>
            <a:pPr>
              <a:spcAft>
                <a:spcPts val="600"/>
              </a:spcAft>
              <a:defRPr sz="1400">
                <a:solidFill>
                  <a:srgbClr val="0F2543"/>
                </a:solidFill>
                <a:latin typeface="Aptos"/>
              </a:defRPr>
            </a:pPr>
            <a:r>
              <a:t>Report: patient/session metadata, prediction, probabilities, disclaimer.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Ethics and privacy define the deployment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108960" cy="14173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Not a diagnosis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The system is a screening assistant and requires professional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108960" cy="14173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Sensitive data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Interview videos are biometric and behavioral health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08760"/>
            <a:ext cx="3108960" cy="14173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Bias risk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Performance must be audited across demographics and recording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9875520" cy="109728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Use consent, local processing, deletion policies, and access controls.</a:t>
            </a:r>
          </a:p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Do not use outputs for high-stakes decisions.</a:t>
            </a:r>
          </a:p>
          <a:p>
            <a:pPr>
              <a:spcAft>
                <a:spcPts val="600"/>
              </a:spcAft>
              <a:defRPr sz="1600">
                <a:solidFill>
                  <a:srgbClr val="0F2543"/>
                </a:solidFill>
                <a:latin typeface="Aptos"/>
              </a:defRPr>
            </a:pPr>
            <a:r>
              <a:t>Clinical validation is mandatory before real-world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Next steps focus on stronger evidence and generalization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480560" cy="114300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1. Full pose stream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Use richer upper-body landmarks and motion descriptors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600200"/>
            <a:ext cx="4480560" cy="1143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2. Audio + text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Add voice and transcript features for true multimodal 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4480560" cy="114300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3. Threshold calibration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Tune screening sensitivity with clinical guidance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3200400"/>
            <a:ext cx="4480560" cy="1143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4. External validation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Test on larger and more diverse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926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850" b="1">
                <a:solidFill>
                  <a:srgbClr val="B87333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700" b="1">
                <a:solidFill>
                  <a:srgbClr val="0F2543"/>
                </a:solidFill>
                <a:latin typeface="Aptos"/>
              </a:rPr>
              <a:t>Final evaluation: strong prototype, honest research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822960" cy="32004"/>
          </a:xfrm>
          <a:prstGeom prst="rect">
            <a:avLst/>
          </a:prstGeom>
          <a:solidFill>
            <a:srgbClr val="15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200400" cy="2194560"/>
          </a:xfrm>
          <a:prstGeom prst="roundRect">
            <a:avLst/>
          </a:prstGeom>
          <a:solidFill>
            <a:srgbClr val="F4F8F8"/>
          </a:solidFill>
          <a:ln w="12700">
            <a:solidFill>
              <a:srgbClr val="15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15706E"/>
                </a:solidFill>
                <a:latin typeface="Aptos"/>
              </a:rPr>
              <a:t>What is complete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TSFFM model
Temporal sequence learning
Validation artifacts
FastAPI inference
React dashboard
PDF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08760"/>
            <a:ext cx="3200400" cy="219456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0F2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0F2543"/>
                </a:solidFill>
                <a:latin typeface="Aptos"/>
              </a:rPr>
              <a:t>What results show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Useful learned signal
AUC above chance
Sensitivity still weak
Overfitting pressure
Need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3200400" cy="2194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82296" bIns="73152"/>
          <a:lstStyle/>
          <a:p>
            <a:pPr algn="ctr"/>
            <a:r>
              <a:rPr sz="1300" b="1">
                <a:solidFill>
                  <a:srgbClr val="B87333"/>
                </a:solidFill>
                <a:latin typeface="Aptos"/>
              </a:rPr>
              <a:t>Final claim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F2543"/>
                </a:solidFill>
                <a:latin typeface="Aptos"/>
              </a:rPr>
              <a:t>A meaningful AI-assisted screening prototype, ready for demo and further research, not clinical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36576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800" b="1">
                <a:solidFill>
                  <a:srgbClr val="0F2543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5669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200" b="0">
                <a:solidFill>
                  <a:srgbClr val="5B6A7D"/>
                </a:solidFill>
                <a:latin typeface="Aptos"/>
              </a:rPr>
              <a:t>Jitendra Choudhary (22BEC059) and Kabir Singh Khair (22BEC061)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750" b="0">
                <a:solidFill>
                  <a:srgbClr val="5B6A7D"/>
                </a:solidFill>
                <a:latin typeface="Aptos"/>
              </a:rPr>
              <a:t>TSFFM Depression Detection | Final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00" b="1">
                <a:solidFill>
                  <a:srgbClr val="5B6A7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